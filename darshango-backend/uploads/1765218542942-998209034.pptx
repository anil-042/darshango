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91" r:id="rId2"/>
    <p:sldId id="281" r:id="rId3"/>
    <p:sldId id="290" r:id="rId4"/>
    <p:sldId id="299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TradeGothic"/>
          <a:ea typeface="MS PGothic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TradeGothic"/>
          <a:ea typeface="MS PGothic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c.i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fms.nic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ocialjustice.gov.in/" TargetMode="External"/><Relationship Id="rId11" Type="http://schemas.openxmlformats.org/officeDocument/2006/relationships/hyperlink" Target="https://pmgatishakti.gov.in/pmgatishakti/login" TargetMode="External"/><Relationship Id="rId5" Type="http://schemas.openxmlformats.org/officeDocument/2006/relationships/hyperlink" Target="%20https:/socialjustice.gov.in" TargetMode="External"/><Relationship Id="rId10" Type="http://schemas.openxmlformats.org/officeDocument/2006/relationships/hyperlink" Target="https://www.digitalindia.gov.in/" TargetMode="External"/><Relationship Id="rId4" Type="http://schemas.openxmlformats.org/officeDocument/2006/relationships/image" Target="../media/image3.jpeg"/><Relationship Id="rId9" Type="http://schemas.openxmlformats.org/officeDocument/2006/relationships/hyperlink" Target="https://data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165" y="0"/>
            <a:ext cx="103638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8140" y="1490980"/>
            <a:ext cx="5924550" cy="451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Problem Statement ID </a:t>
            </a:r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–</a:t>
            </a:r>
            <a:r>
              <a:rPr lang="en-US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25153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Problem Statement Title</a:t>
            </a:r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-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Mapping of Implementing and Executing Agencies across </a:t>
            </a:r>
            <a:r>
              <a:rPr lang="en-US" altLang="en-US" b="1" dirty="0">
                <a:solidFill>
                  <a:srgbClr val="01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PM- AJAY Components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Theme</a:t>
            </a:r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- Smart Automation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PS Category</a:t>
            </a:r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- Software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Team ID </a:t>
            </a:r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–</a:t>
            </a:r>
            <a:r>
              <a:rPr lang="en-US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65856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Team Name </a:t>
            </a:r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- </a:t>
            </a:r>
            <a:r>
              <a:rPr lang="en-US" b="1" dirty="0" err="1">
                <a:latin typeface="Arial" panose="020B0604020202090204" pitchFamily="34" charset="0"/>
                <a:cs typeface="Arial" panose="020B0604020202090204" pitchFamily="34" charset="0"/>
              </a:rPr>
              <a:t>DarshanGo</a:t>
            </a:r>
            <a:endParaRPr lang="en-IN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1821815" y="795020"/>
            <a:ext cx="6565265" cy="1038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"PM-AJAY Connection" - </a:t>
            </a:r>
          </a:p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One Nation, One Dashboard for Agency Mapping</a:t>
            </a:r>
            <a:endParaRPr lang="en-US" altLang="en-US" b="1" dirty="0">
              <a:latin typeface="Times New Roman" panose="02020603050405020304" pitchFamily="18" charset="0"/>
              <a:ea typeface="MS PGothic" pitchFamily="1" charset="-128"/>
              <a:cs typeface="Times New Roman" panose="02020603050405020304" pitchFamily="18" charset="0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/>
          <p:cNvSpPr/>
          <p:nvPr/>
        </p:nvSpPr>
        <p:spPr>
          <a:xfrm>
            <a:off x="146438" y="1144170"/>
            <a:ext cx="5818605" cy="5126002"/>
          </a:xfrm>
          <a:prstGeom prst="roundRect">
            <a:avLst>
              <a:gd name="adj" fmla="val 8036"/>
            </a:avLst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6275" y="57150"/>
            <a:ext cx="7264400" cy="807720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"PM-AJAY Connection" - One Nation, One Dashboard for Agency Mapping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41513" y="1139466"/>
            <a:ext cx="5954486" cy="5135409"/>
          </a:xfrm>
          <a:ln w="19050">
            <a:noFill/>
          </a:ln>
        </p:spPr>
        <p:txBody>
          <a:bodyPr/>
          <a:lstStyle/>
          <a:p>
            <a:pPr marL="0" indent="0" algn="ctr">
              <a:spcBef>
                <a:spcPts val="100"/>
              </a:spcBef>
              <a:buNone/>
            </a:pPr>
            <a:r>
              <a:rPr lang="en-IN" sz="1600" b="1" u="sng" dirty="0">
                <a:solidFill>
                  <a:schemeClr val="accent6">
                    <a:lumMod val="75000"/>
                  </a:schemeClr>
                </a:solidFill>
              </a:rPr>
              <a:t>PROPOSED SOLUTION:</a:t>
            </a:r>
          </a:p>
          <a:p>
            <a:pPr>
              <a:spcBef>
                <a:spcPts val="100"/>
              </a:spcBef>
              <a:buFont typeface="Arial" panose="020B0604020202090204" pitchFamily="34" charset="0"/>
              <a:buChar char="•"/>
            </a:pPr>
            <a:r>
              <a:rPr lang="en-IN" sz="1400" dirty="0"/>
              <a:t> </a:t>
            </a:r>
            <a:r>
              <a:rPr lang="en-US" altLang="en-US" sz="1400" b="1" dirty="0">
                <a:solidFill>
                  <a:schemeClr val="tx1"/>
                </a:solidFill>
              </a:rPr>
              <a:t>Central Agency Repository:</a:t>
            </a:r>
            <a:r>
              <a:rPr lang="en-US" altLang="en-US" sz="1400" dirty="0">
                <a:solidFill>
                  <a:schemeClr val="tx1"/>
                </a:solidFill>
              </a:rPr>
              <a:t> All implementing &amp; executing agencies are housed in a searchable central database.</a:t>
            </a:r>
          </a:p>
          <a:p>
            <a:pPr>
              <a:spcBef>
                <a:spcPts val="100"/>
              </a:spcBef>
            </a:pPr>
            <a:r>
              <a:rPr lang="en-US" altLang="en-US" sz="1400" b="1" dirty="0">
                <a:solidFill>
                  <a:schemeClr val="tx1"/>
                </a:solidFill>
              </a:rPr>
              <a:t>Dynamic Mapping Dashboard: </a:t>
            </a:r>
            <a:r>
              <a:rPr lang="en-US" altLang="en-US" sz="1400" dirty="0">
                <a:solidFill>
                  <a:schemeClr val="tx1"/>
                </a:solidFill>
              </a:rPr>
              <a:t>Interactive state/UT-wise map to track projects, agencies, funds, and timelines.</a:t>
            </a:r>
          </a:p>
          <a:p>
            <a:pPr>
              <a:spcBef>
                <a:spcPts val="100"/>
              </a:spcBef>
            </a:pPr>
            <a:r>
              <a:rPr lang="en-US" altLang="en-US" sz="1400" b="1" dirty="0">
                <a:solidFill>
                  <a:schemeClr val="tx1"/>
                </a:solidFill>
              </a:rPr>
              <a:t>Upwork/task-based workflows:</a:t>
            </a:r>
            <a:r>
              <a:rPr lang="en-US" altLang="en-US" sz="1400" dirty="0">
                <a:solidFill>
                  <a:schemeClr val="tx1"/>
                </a:solidFill>
              </a:rPr>
              <a:t> Using digital tools, roles are established to define tasks, deadlines, and where to escalate.</a:t>
            </a:r>
          </a:p>
          <a:p>
            <a:pPr>
              <a:spcBef>
                <a:spcPts val="100"/>
              </a:spcBef>
              <a:buFont typeface="Arial" panose="020B060402020209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</a:rPr>
              <a:t>Smart Communications Hub:</a:t>
            </a:r>
            <a:r>
              <a:rPr lang="en-US" altLang="en-US" sz="1400" dirty="0">
                <a:solidFill>
                  <a:schemeClr val="tx1"/>
                </a:solidFill>
              </a:rPr>
              <a:t> Built-in messaging &amp; notifications from Centre - State - Agencies.</a:t>
            </a:r>
          </a:p>
          <a:p>
            <a:pPr>
              <a:spcBef>
                <a:spcPts val="100"/>
              </a:spcBef>
              <a:buFont typeface="Arial" panose="020B060402020209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</a:rPr>
              <a:t>Time-sensitive Fund-Flow Checkpoint:</a:t>
            </a:r>
            <a:r>
              <a:rPr lang="en-US" altLang="en-US" sz="1400" dirty="0">
                <a:solidFill>
                  <a:schemeClr val="tx1"/>
                </a:solidFill>
              </a:rPr>
              <a:t> Visual checkpoint for approvals, releases, and utilizations certificates. </a:t>
            </a:r>
          </a:p>
          <a:p>
            <a:pPr>
              <a:spcBef>
                <a:spcPts val="100"/>
              </a:spcBef>
            </a:pPr>
            <a:r>
              <a:rPr lang="en-US" altLang="en-US" sz="1400" b="1" dirty="0">
                <a:solidFill>
                  <a:schemeClr val="tx1"/>
                </a:solidFill>
              </a:rPr>
              <a:t>Analytics / Reporting :</a:t>
            </a:r>
            <a:r>
              <a:rPr lang="en-US" altLang="en-US" sz="1400" dirty="0">
                <a:solidFill>
                  <a:schemeClr val="tx1"/>
                </a:solidFill>
              </a:rPr>
              <a:t> AI tracked preformance including progress alerts for bottlenecks and compliance scores. </a:t>
            </a:r>
          </a:p>
          <a:p>
            <a:pPr marL="0" indent="0">
              <a:spcBef>
                <a:spcPts val="100"/>
              </a:spcBef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0" indent="0" algn="ctr">
              <a:spcBef>
                <a:spcPts val="100"/>
              </a:spcBef>
              <a:buNone/>
            </a:pPr>
            <a:r>
              <a:rPr lang="en-IN" sz="1600" b="1" u="sng" dirty="0">
                <a:solidFill>
                  <a:schemeClr val="accent6">
                    <a:lumMod val="75000"/>
                  </a:schemeClr>
                </a:solidFill>
              </a:rPr>
              <a:t>UNIQUENESS: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lang="en-US" altLang="en-US" sz="1400" dirty="0"/>
              <a:t>First integrated system covering all 3 components of PM-AJAY.</a:t>
            </a:r>
          </a:p>
          <a:p>
            <a:pPr>
              <a:spcBef>
                <a:spcPts val="100"/>
              </a:spcBef>
            </a:pPr>
            <a:r>
              <a:rPr lang="en-US" altLang="en-US" sz="1400" dirty="0"/>
              <a:t>Accountability graph at every level from state through village. </a:t>
            </a:r>
          </a:p>
          <a:p>
            <a:pPr>
              <a:spcBef>
                <a:spcPts val="100"/>
              </a:spcBef>
            </a:pPr>
            <a:r>
              <a:rPr lang="en-US" altLang="en-US" sz="1400" dirty="0"/>
              <a:t>Purpose built for transparency, inclusivity, and rapid decision making.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b="15217"/>
          <a:stretch>
            <a:fillRect/>
          </a:stretch>
        </p:blipFill>
        <p:spPr>
          <a:xfrm>
            <a:off x="288884" y="24190"/>
            <a:ext cx="1333634" cy="107118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419850" y="1179830"/>
            <a:ext cx="1905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PROCESS 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5C4BB5-3D34-EF4E-4833-471C97103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1" y="1566235"/>
            <a:ext cx="5625712" cy="44514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263445" cy="1263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15" y="57097"/>
            <a:ext cx="1333634" cy="12634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785" y="1179830"/>
            <a:ext cx="4679315" cy="48552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160" y="1179830"/>
            <a:ext cx="4473575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USECASE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263445" cy="1263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15" y="57097"/>
            <a:ext cx="1333634" cy="12634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C25DAD-16E1-884F-A583-558F939F5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01" y="804152"/>
            <a:ext cx="5532283" cy="55522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263445" cy="1263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333634" cy="1263445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/>
        </p:nvGraphicFramePr>
        <p:xfrm>
          <a:off x="1828800" y="1320800"/>
          <a:ext cx="8534400" cy="4697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b="1">
                          <a:sym typeface="+mn-ea"/>
                        </a:rPr>
                        <a:t>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b="1">
                          <a:sym typeface="+mn-ea"/>
                        </a:rPr>
                        <a:t>Viability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259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Digital Stacks</a:t>
                      </a:r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Utilizes government digital tools such as DigiLocker, PFMS, and API-based tools, all of which facilitate seamless sharing of data with the Centre, States, and agencies.</a:t>
                      </a:r>
                    </a:p>
                    <a:p>
                      <a:pPr>
                        <a:buNone/>
                      </a:pPr>
                      <a:endParaRPr lang="en-US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GIS and Cloud Technology</a:t>
                      </a:r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Based on established GIS dashboards and cloud-based technology that can scale with no new hardware requirements required.</a:t>
                      </a:r>
                    </a:p>
                    <a:p>
                      <a:pPr>
                        <a:buNone/>
                      </a:pPr>
                      <a:endParaRPr lang="en-US" altLang="en-US" sz="1200"/>
                    </a:p>
                    <a:p>
                      <a:pPr>
                        <a:buNone/>
                      </a:pPr>
                      <a:endParaRPr lang="en-US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Real time Sync</a:t>
                      </a:r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Built for areas with better connectivity, the system automatically syncs.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Economic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Guarantees low infrastructure expenditure by utilizing a clod-pay-as-you-go model and is easily scaleable for other central schemes.</a:t>
                      </a:r>
                    </a:p>
                    <a:p>
                      <a:pPr>
                        <a:buNone/>
                      </a:pPr>
                      <a:endParaRPr lang="en-US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Social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Enables State and UT administrations to enhance development in villages and have an improved service delivery to communities.</a:t>
                      </a:r>
                    </a:p>
                    <a:p>
                      <a:pPr>
                        <a:buNone/>
                      </a:pPr>
                      <a:endParaRPr lang="en-US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Administrative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Digitizes approvals and fund transfers to reduce paperwork, as well as provide a single, transparent source of truth.</a:t>
                      </a:r>
                    </a:p>
                    <a:p>
                      <a:pPr>
                        <a:buNone/>
                      </a:pPr>
                      <a:endParaRPr lang="en-US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200" b="1"/>
                        <a:t>Sustainability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r>
                        <a:rPr lang="en-US" altLang="en-US" sz="1200"/>
                        <a:t>Utilizes a government-owned open-API platform to easily enable further expansion and onboarding of future welfare schemes.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263445" cy="12634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333634" cy="1263445"/>
          </a:xfrm>
          <a:prstGeom prst="rect">
            <a:avLst/>
          </a:prstGeom>
        </p:spPr>
      </p:pic>
      <p:sp>
        <p:nvSpPr>
          <p:cNvPr id="32" name="Rectangle: Rounded Corners 31"/>
          <p:cNvSpPr/>
          <p:nvPr/>
        </p:nvSpPr>
        <p:spPr>
          <a:xfrm>
            <a:off x="130175" y="1235710"/>
            <a:ext cx="3404235" cy="431736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400" b="1" dirty="0"/>
              <a:t>IMPACT</a:t>
            </a:r>
          </a:p>
          <a:p>
            <a:r>
              <a:rPr lang="en-US" altLang="en-US" sz="1200" b="1" dirty="0"/>
              <a:t>For MoSJE &amp; States: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Increased project visibility and fund tracking in real time.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A reduced approval time, and quicker decision-making.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Accountability with a digital audit trail in place. </a:t>
            </a:r>
          </a:p>
          <a:p>
            <a:r>
              <a:rPr lang="en-US" altLang="en-US" sz="1200" b="1" dirty="0"/>
              <a:t>For Implementing Agencies: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More defined task allocation &amp; reminders for timelines.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Less duplication of effort &amp; paperwork. </a:t>
            </a:r>
          </a:p>
          <a:p>
            <a:r>
              <a:rPr lang="en-US" altLang="en-US" sz="1200" b="1" dirty="0"/>
              <a:t>For Communities / Beneficiaries: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Faster project completion, with schools, hostels and upgraded villages sooner. 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200" dirty="0"/>
              <a:t>A transparent way of showing how funds are spent enhances trust in the governance.</a:t>
            </a:r>
          </a:p>
        </p:txBody>
      </p:sp>
      <p:graphicFrame>
        <p:nvGraphicFramePr>
          <p:cNvPr id="7" name="Table 6"/>
          <p:cNvGraphicFramePr/>
          <p:nvPr>
            <p:extLst>
              <p:ext uri="{D42A27DB-BD31-4B8C-83A1-F6EECF244321}">
                <p14:modId xmlns:p14="http://schemas.microsoft.com/office/powerpoint/2010/main" val="640945263"/>
              </p:ext>
            </p:extLst>
          </p:nvPr>
        </p:nvGraphicFramePr>
        <p:xfrm>
          <a:off x="3676015" y="1783021"/>
          <a:ext cx="5387340" cy="2827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90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BENEFITS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1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🟩</a:t>
                      </a:r>
                      <a:r>
                        <a:rPr lang="en-US" altLang="en-US" sz="1200" b="1" dirty="0"/>
                        <a:t> Operational Benefits</a:t>
                      </a:r>
                      <a:endParaRPr lang="en-US" alt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  <a:p>
                      <a:pPr>
                        <a:buNone/>
                      </a:pPr>
                      <a:r>
                        <a:rPr lang="en-US" altLang="en-US" sz="1200" b="1" dirty="0"/>
                        <a:t>1.Single destination mapping</a:t>
                      </a:r>
                      <a:endParaRPr lang="en-US" alt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  <a:p>
                      <a:pPr>
                        <a:buNone/>
                      </a:pPr>
                      <a:r>
                        <a:rPr lang="en-US" altLang="en-US" sz="1200" b="1" dirty="0"/>
                        <a:t>2.Swifter communication</a:t>
                      </a:r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  <a:p>
                      <a:pPr>
                        <a:buNone/>
                      </a:pPr>
                      <a:r>
                        <a:rPr lang="en-US" altLang="en-US" sz="1200" b="1" dirty="0"/>
                        <a:t>3.Intelligent funding visibility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🟩</a:t>
                      </a:r>
                      <a:r>
                        <a:rPr lang="en-US" altLang="zh-CN" sz="1200" dirty="0">
                          <a:sym typeface="+mn-ea"/>
                        </a:rPr>
                        <a:t> </a:t>
                      </a:r>
                      <a:r>
                        <a:rPr lang="en-US" altLang="en-US" sz="1200" b="1" dirty="0"/>
                        <a:t>Benefits of Governance &amp;          Transparenc</a:t>
                      </a:r>
                      <a:r>
                        <a:rPr lang="en-US" altLang="en-US" sz="1200" dirty="0"/>
                        <a:t>y</a:t>
                      </a:r>
                    </a:p>
                    <a:p>
                      <a:pPr>
                        <a:buNone/>
                      </a:pPr>
                      <a:endParaRPr lang="en-US" altLang="en-US" sz="1200" b="1" dirty="0"/>
                    </a:p>
                    <a:p>
                      <a:pPr>
                        <a:buNone/>
                      </a:pPr>
                      <a:r>
                        <a:rPr lang="en-US" altLang="en-US" sz="1200" b="1" dirty="0"/>
                        <a:t>1.Open and Transparent</a:t>
                      </a:r>
                      <a:endParaRPr lang="en-US" altLang="en-US" sz="1200" dirty="0"/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  <a:p>
                      <a:pPr>
                        <a:buNone/>
                      </a:pPr>
                      <a:r>
                        <a:rPr lang="en-US" altLang="en-US" sz="1200" b="1" dirty="0"/>
                        <a:t>2.Better Decision-making</a:t>
                      </a:r>
                    </a:p>
                    <a:p>
                      <a:pPr>
                        <a:buNone/>
                      </a:pPr>
                      <a:endParaRPr lang="en-US" altLang="en-US" sz="1200" dirty="0"/>
                    </a:p>
                    <a:p>
                      <a:pPr>
                        <a:buNone/>
                      </a:pPr>
                      <a:r>
                        <a:rPr lang="en-US" altLang="en-US" sz="1200" b="1" dirty="0"/>
                        <a:t>3.Audit-ready tracking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: Rounded Corners 31"/>
          <p:cNvSpPr/>
          <p:nvPr/>
        </p:nvSpPr>
        <p:spPr>
          <a:xfrm>
            <a:off x="9204960" y="1317625"/>
            <a:ext cx="2844800" cy="329247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en-US" sz="1200" b="1" dirty="0"/>
              <a:t>FUTURE SCOPE:</a:t>
            </a: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en-US" altLang="en-US" sz="1200" dirty="0"/>
              <a:t>AI chatbots .</a:t>
            </a: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en-US" altLang="en-US" sz="1200" dirty="0"/>
              <a:t>Blockchain-based ledger </a:t>
            </a: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en-US" altLang="en-US" sz="1200" dirty="0"/>
              <a:t>Inter-scheme Integration</a:t>
            </a: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en-US" altLang="en-US" sz="1200" dirty="0"/>
              <a:t>Expansion to other socio-justice schemes.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85" y="57097"/>
            <a:ext cx="1333634" cy="1263445"/>
          </a:xfrm>
          <a:prstGeom prst="rect">
            <a:avLst/>
          </a:prstGeom>
        </p:spPr>
      </p:pic>
      <p:sp>
        <p:nvSpPr>
          <p:cNvPr id="3" name="TextBox 2">
            <a:hlinkClick r:id="" action="ppaction://hlinkfile"/>
          </p:cNvPr>
          <p:cNvSpPr txBox="1"/>
          <p:nvPr/>
        </p:nvSpPr>
        <p:spPr>
          <a:xfrm>
            <a:off x="1013864" y="1179912"/>
            <a:ext cx="10353368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Ministry of Social Justice &amp; Empowerment:</a:t>
            </a:r>
            <a:r>
              <a:rPr lang="en-US" altLang="en-US" u="sng" dirty="0">
                <a:solidFill>
                  <a:schemeClr val="tx2"/>
                </a:solidFill>
                <a:hlinkClick r:id="rId5" action="ppaction://hlinkfile"/>
              </a:rPr>
              <a:t> </a:t>
            </a:r>
            <a:r>
              <a:rPr lang="en-US" altLang="en-US" u="sng" dirty="0">
                <a:solidFill>
                  <a:schemeClr val="tx2"/>
                </a:solidFill>
                <a:hlinkClick r:id="rId6"/>
              </a:rPr>
              <a:t>https://socialjustice.gov.in</a:t>
            </a: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PFMS Portal: </a:t>
            </a:r>
            <a:r>
              <a:rPr lang="en-US" altLang="en-US" u="sng" dirty="0">
                <a:solidFill>
                  <a:schemeClr val="tx2"/>
                </a:solidFill>
                <a:hlinkClick r:id="rId7"/>
              </a:rPr>
              <a:t>https://pfms.nic.in</a:t>
            </a: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NIC: </a:t>
            </a:r>
            <a:r>
              <a:rPr lang="en-US" altLang="en-US" u="sng" dirty="0">
                <a:solidFill>
                  <a:schemeClr val="tx2"/>
                </a:solidFill>
                <a:hlinkClick r:id="rId8"/>
              </a:rPr>
              <a:t>https://www.nic.in</a:t>
            </a: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Open Government Data Platform: </a:t>
            </a:r>
            <a:r>
              <a:rPr lang="en-US" altLang="en-US" u="sng" dirty="0">
                <a:solidFill>
                  <a:schemeClr val="tx2"/>
                </a:solidFill>
                <a:hlinkClick r:id="rId9"/>
              </a:rPr>
              <a:t>https://data.gov.in</a:t>
            </a: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Digital India: </a:t>
            </a:r>
            <a:r>
              <a:rPr lang="en-US" altLang="en-US" u="sng" dirty="0">
                <a:solidFill>
                  <a:schemeClr val="tx2"/>
                </a:solidFill>
                <a:hlinkClick r:id="rId10"/>
              </a:rPr>
              <a:t>https://www.digitalindia.gov.in</a:t>
            </a: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u="sng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PM GatiShakti: </a:t>
            </a:r>
            <a:r>
              <a:rPr lang="en-US" altLang="en-US" u="sng" dirty="0">
                <a:solidFill>
                  <a:schemeClr val="tx2"/>
                </a:solidFill>
                <a:hlinkClick r:id="rId11"/>
              </a:rPr>
              <a:t>https://pmgatishakti.gov.in/pmgatishakti/login</a:t>
            </a:r>
            <a:endParaRPr lang="en-US" altLang="en-US" u="sng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617</Words>
  <Application>Microsoft Office PowerPoint</Application>
  <PresentationFormat>Widescreen</PresentationFormat>
  <Paragraphs>112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MS PGothic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"PM-AJAY Connection" - One Nation, One Dashboard for Agency Mapping</vt:lpstr>
      <vt:lpstr>TECHNICAL APPROACH</vt:lpstr>
      <vt:lpstr>USECASE DIAGRAM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HERO BRINE</cp:lastModifiedBy>
  <cp:revision>161</cp:revision>
  <dcterms:created xsi:type="dcterms:W3CDTF">2025-12-08T07:09:46Z</dcterms:created>
  <dcterms:modified xsi:type="dcterms:W3CDTF">2025-12-08T13:50:40Z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1F9606011EB2870CBA7936695943BA45_43</vt:lpwstr>
  </property>
  <property fmtid="{D5CDD505-2E9C-101B-9397-08002B2CF9AE}" pid="3" name="KSOProductBuildVer">
    <vt:lpwstr>1033-6.14.0.8716</vt:lpwstr>
  </property>
</Properties>
</file>